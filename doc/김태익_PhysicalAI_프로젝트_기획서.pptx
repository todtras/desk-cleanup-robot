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0287000" cy="18288000"/>
  <p:embeddedFontLst>
    <p:embeddedFont>
      <p:font typeface="Pretendard" panose="02000503000000020004" pitchFamily="50" charset="-127"/>
      <p:regular r:id="rId12"/>
      <p:bold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-45" y="-2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693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retendard"/>
          <a:ea typeface="Pretendard"/>
          <a:cs typeface="Pretendard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9pPr>
    </p:bodyStyle>
    <p:otherStyle>
      <a:defPPr>
        <a:defRPr lang="en-US">
          <a:latin typeface="Pretendard"/>
          <a:ea typeface="Pretendard"/>
          <a:cs typeface="Pretendard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10560" y="502920"/>
            <a:ext cx="1737360" cy="1636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2743200"/>
            <a:ext cx="1280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부산대학교 AI융합교육원 인턴십  —  Physical AI 프로젝트 (데스크 오브젝트 정리 로봇)</a:t>
            </a:r>
            <a:endParaRPr lang="en-US" sz="15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1097280" y="329184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프로젝트 기획서</a:t>
            </a:r>
            <a:endParaRPr lang="en-US" sz="5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1097280" y="4480560"/>
            <a:ext cx="1554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i="0" dirty="0">
                <a:solidFill>
                  <a:srgbClr val="D1D5DB"/>
                </a:solidFill>
                <a:latin typeface="Pretendard"/>
                <a:ea typeface="Pretendard"/>
                <a:cs typeface="Pretendard"/>
              </a:rPr>
              <a:t>AI 기반 데스크 오브젝트 인식·분류 정리 로봇  —  책상 위 물건을 지정 수거함으로 정리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097280" y="557784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0" dirty="0">
                <a:solidFill>
                  <a:srgbClr val="D1D5DB"/>
                </a:solidFill>
                <a:latin typeface="Pretendard"/>
                <a:ea typeface="Pretendard"/>
                <a:cs typeface="Pretendard"/>
              </a:rPr>
              <a:t>SO-101 로봇팔  ·  객체 탐지 · 분류  ·  모방학습 베이스 정책 + 강화학습 파지 보정</a:t>
            </a:r>
            <a:endParaRPr lang="en-US" sz="15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1097280" y="7863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i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작성자  김태익  ·  </a:t>
            </a:r>
            <a:r>
              <a:rPr lang="en-US" sz="1800" b="1" i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팀원</a:t>
            </a:r>
            <a:r>
              <a:rPr lang="en-US" sz="1800" b="1" i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lang="en-US" sz="1800" b="1" i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정의</a:t>
            </a:r>
            <a:r>
              <a:rPr lang="ko-KR" altLang="en-US" sz="1800" b="1" i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찬</a:t>
            </a:r>
            <a:r>
              <a:rPr lang="en-US" sz="1800" b="1" i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· 지동현</a:t>
            </a:r>
            <a:endParaRPr lang="en-US" sz="1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1097280" y="8321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0" dirty="0">
                <a:solidFill>
                  <a:srgbClr val="D1D5DB"/>
                </a:solidFill>
                <a:latin typeface="Pretendard"/>
                <a:ea typeface="Pretendard"/>
                <a:cs typeface="Pretendard"/>
              </a:rPr>
              <a:t>작성일  2026.  9.  16.</a:t>
            </a:r>
            <a:endParaRPr lang="en-US" sz="15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097280" y="9418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2026  FOUNDREAMER  인턴십  ·  Physical AI 프로젝트 기획서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0972800" y="94183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지도  (정) 김세영 이사(CPO)  ·  (부) 홍봉희 교수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프로젝트 개요</a:t>
            </a:r>
            <a:endParaRPr lang="en-US" sz="3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01  개요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2026  FOUNDREAMER 인턴십  ·  프로젝트 기획서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31520" y="1645920"/>
            <a:ext cx="822960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005840" y="18105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프로젝트명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005840" y="230428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AI 기반 데스크 오브젝트 인식·분류 </a:t>
            </a:r>
            <a:r>
              <a:rPr lang="en-US" sz="1350" i="0" dirty="0" err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정리</a:t>
            </a: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350" i="0" dirty="0" err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로봇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9326880" y="1645920"/>
            <a:ext cx="822960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9601200" y="18105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작업(Task) 정의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9601200" y="230428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책상 위에 놓인 물건을 카메라로 인식해, 로봇팔이 카테고리별 수거함으로 옮겨 담는다.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31520" y="3749040"/>
            <a:ext cx="1682496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005840" y="3913632"/>
            <a:ext cx="1627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한 줄 소개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005840" y="4407408"/>
            <a:ext cx="1627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무작위로 놓인 데스크 오브젝트(필기구 · 컵 등)를 사람 시연으로 학습한 정책으로 파지해 카테고리별 수거함에 투입하는 자율 제어.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파지 실패는 강화학습 보정으로 자세 · 접근 방향을 조정해 재시도한다.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31520" y="5577840"/>
            <a:ext cx="822960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1005840" y="57424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대상 물체 · 작업 환경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1005840" y="623620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필기구 · 컵 · 기타 데스크 오브젝트 / 책상 + 카테고리별 수거함 / 물체 위치 무작위 · 미등록 물체 포함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SO-101 로봇팔 (리더 · 팔로워) · 카메라 2대 (상단 고정 + 팔 장착)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9326880" y="5577840"/>
            <a:ext cx="822960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9601200" y="57424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 err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적용</a:t>
            </a: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2100" b="1" dirty="0" err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현장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9601200" y="623620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사무실 책상 — 근무자가 직접 정리하던 데스크 오브젝트의 분류 · 수납을 자동화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확장 가능 분야: 사무실 비품 보관소 · 공장 부품 분류 시설 등 '인식 → 분류 → 이송'이 반복되는 현장 전반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31520" y="7680960"/>
            <a:ext cx="82296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1005840" y="78455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수행 기간 · 담당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1005840" y="833932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2026. 9. 18. ~ 2026. 12. 4.  ·  금요일 주 1회 8시간 × 10회 = 80시간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※ 추석(9/25) · 한글날(10/9) 제외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3인 팀 — 팀장 김태익(대면) · </a:t>
            </a:r>
            <a:r>
              <a:rPr lang="en-US" sz="1350" i="0" dirty="0" err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팀원</a:t>
            </a: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350" i="0" dirty="0" err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정의</a:t>
            </a:r>
            <a:r>
              <a:rPr lang="ko-KR" alt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찬</a:t>
            </a: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 · 지동현(비대면)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9326880" y="7680960"/>
            <a:ext cx="82296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9601200" y="78455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사용 도구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9601200" y="833932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SO-101 리더 · 팔로워 · LeRobot · Python / PyTorch · Ultralytics YOLO · Roboflow · VLM(Grounding DINO · CLIP) · Claude Code · Git · (여유 시) Isaac Sim / PyBullet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문제 (Problem)</a:t>
            </a:r>
            <a:endParaRPr lang="en-US" sz="3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02  문제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2026  FOUNDREAMER 인턴십  ·  프로젝트 기획서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3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31520" y="1417320"/>
            <a:ext cx="1682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사람이 직접 분류해 치우고 있고, 기존 자동화는 매 배치마다 재프로그래밍이 필요하다.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731520" y="76809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사람이 직접 분류해 정리하는 현재 방식 — 물체 종류 · 위치가 매번 달라진다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046720" y="1920240"/>
            <a:ext cx="9509760" cy="24688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321040" y="20848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현황 및 문제점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8321040" y="2578608"/>
            <a:ext cx="8961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책상 위 물건은 종류 · 위치 · 자세가 매번 달라 사람이 직접 분류하고 치워야 한다.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정리 대상 15종(필기구 6 · 컵 4 · 기타 5) · 배치 무작위 — 고정 경로로는 매 배치마다 재프로그래밍 필요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046720" y="4617720"/>
            <a:ext cx="950976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8321040" y="478231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기존 자동화의 한계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8321040" y="5276088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고정 경로 · 고정 클래스 기반 자동화는 학습한 물체만 처리할 수 있고, 물체 위치가 바뀌면 재프로그래밍이 필요하다. 규칙 기반 비전은 물체 형상마다 별도 개발이 든다.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046720" y="6675120"/>
            <a:ext cx="950976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8321040" y="683971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왜 학습형 로봇(Physical AI)인가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8321040" y="7333488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학습 기반 인식으로 물체 종류 · 위치 변화에 대응하고, VLM 기반 open-vocabulary 인식으로 사전 정의되지 않은 물건까지 확장할 수 있다. 파지 실패도 규칙이 아닌 시연 학습 + 강화학습 보정으로 다룬다.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31520" y="8229600"/>
            <a:ext cx="16824960" cy="1005840"/>
          </a:xfrm>
          <a:prstGeom prst="rect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1005840" y="8366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문제 한 줄 요약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3931920" y="8366760"/>
            <a:ext cx="1344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책상 위 물건은 종류와 위치가 매번 달라, 고정된 자동화로는 정리할 수 없다.</a:t>
            </a:r>
            <a:endParaRPr lang="en-US" sz="1500" dirty="0">
              <a:latin typeface="Pretendard"/>
              <a:ea typeface="Pretendard"/>
              <a:cs typeface="Pretendard"/>
            </a:endParaRPr>
          </a:p>
        </p:txBody>
      </p:sp>
      <p:pic>
        <p:nvPicPr>
          <p:cNvPr id="24" name="Picture 23" descr="슬라이드3_현장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920240"/>
            <a:ext cx="694944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해결 (Solution)</a:t>
            </a:r>
            <a:endParaRPr lang="en-US" sz="3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03  해결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2026  FOUNDREAMER 인턴십  ·  프로젝트 기획서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4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31520" y="1417320"/>
            <a:ext cx="1682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인식 → 좌표 변환 → 파지 → 이송. 실패는 시연으로 학습한 정책 위에 강화학습 보정을 얹어 다룬다.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31520" y="1920240"/>
            <a:ext cx="16824960" cy="17373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005840" y="2084832"/>
            <a:ext cx="1627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핵심 아이디어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005840" y="2578608"/>
            <a:ext cx="1627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카메라로 물체를 탐지 · 분류하고 로봇 좌표계로 변환해 파지 · 이송한다. 텔레오퍼레이션 시연으로 기본 파지 정책을 학습한 뒤, 그 위에 강화학습으로 실패 케이스의 자세 · 접근 방향만 보정해 재시도한다.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31520" y="3931920"/>
            <a:ext cx="16824960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05840" y="40965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학습 파이프라인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8229600" y="41148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데이터 수집 → 라벨링 → 학습 → 추론 → 평가 · 개선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005840" y="4709160"/>
            <a:ext cx="2926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1143000" y="480060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① 데이터 수집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 algn="ctr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상단 1,000장 · 시연 100 에피소드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3931920" y="4709160"/>
            <a:ext cx="365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→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297680" y="4709160"/>
            <a:ext cx="2926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4434840" y="480060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② 라벨링 · 전처리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 algn="ctr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Roboflow / Ultralytics · 8:2 분할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7223760" y="4709160"/>
            <a:ext cx="365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→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589520" y="4709160"/>
            <a:ext cx="2926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7726680" y="480060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③ 학습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 algn="ctr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YOLO 100 epoch · 정책 50k 스텝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10515600" y="4709160"/>
            <a:ext cx="365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→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10881360" y="4709160"/>
            <a:ext cx="2926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11018520" y="480060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④ 추론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 algn="ctr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탐지 → 좌표 변환 → 파지 · 30Hz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13807440" y="4709160"/>
            <a:ext cx="365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→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14173200" y="4709160"/>
            <a:ext cx="2926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14310360" y="480060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⑤ 평가 · 개선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 algn="ctr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30회 측정 → 실패 케이스 재수집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731520" y="6492240"/>
            <a:ext cx="822960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1005840" y="66568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AI 적용 포인트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8"/>
          <p:cNvSpPr txBox="1"/>
          <p:nvPr/>
        </p:nvSpPr>
        <p:spPr>
          <a:xfrm>
            <a:off x="1005840" y="7150608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카메라 이미지 → 물체 카테고리 · 위치 인식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사전 정의되지 않은 물체 대응 (open-vocabulary)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파지 실패 → 시연 학습 정책 + 강화학습 보정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9326880" y="6492240"/>
            <a:ext cx="822960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9601200" y="66568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차별점 · 관측 설정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1"/>
          <p:cNvSpPr txBox="1"/>
          <p:nvPr/>
        </p:nvSpPr>
        <p:spPr>
          <a:xfrm>
            <a:off x="9601200" y="7150608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고정 클래스 분류를 넘어 VLM 기반 open-vocabulary 인식을 목표로 한다.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시연으로 학습한 베이스 정책 위에 강화학습으로 실패 케이스만 보정한다 (보정량 ±2cm · ±15° 제한).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상단 고정 카메라(Eye-to-hand)로 탐지 · 좌표 변환, 팔 장착 카메라(Eye-in-hand)로 파지 정렬 · 실패 판정.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관측: 카메라 2시점 + 관절 상태 6축 / 행동: 관절 목표값 6축 / 제어 주기 30Hz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주요 기능 (로봇 동작 단위)</a:t>
            </a:r>
            <a:endParaRPr lang="en-US" sz="3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03  해결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2026  FOUNDREAMER 인턴십  ·  프로젝트 기획서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5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31520" y="1417320"/>
            <a:ext cx="1682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 err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로봇</a:t>
            </a: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350" i="0" dirty="0" err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동작을</a:t>
            </a: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350" i="0" dirty="0" err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기능</a:t>
            </a: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350" i="0" dirty="0" err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단위로</a:t>
            </a: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350" i="0" dirty="0" err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묶었다</a:t>
            </a: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lang="en-US" sz="1350" i="0" dirty="0" err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우선순위</a:t>
            </a: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 M(없으면 시연 불가) · S(완성도) · C(여유 시)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16824960" cy="65836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No.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동작 · 기능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설명 (한 줄)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관측 → 행동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성공 기준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우선순위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인식 (탐지 · 분류)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책상 위 물체의 위치 검출 + 필기구 / 컵 / 기타 카테고리 판별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상단 카메라 → 바운딩박스 · 카테고리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mAP@0.5 80% · 정확도 90%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M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2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파지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상단 카메라 좌표를 로봇 좌표로 변환(Eye-to-hand) 후 접근, 팔 카메라로 정밀 정렬해 파지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상단 · 팔 카메라 → 관절 6축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재투영 ±5mm · 들어 올려도 미탈락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M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3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분류 이송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카테고리별 지정 수거함으로 이동 후 릴리즈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관절 상태 → 관절 목표값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수거함 내 안착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M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4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파지 실패 보정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팔 카메라로 성공 · 실패 판정 후, 시연 학습 베이스 정책에 강화학습 보정을 더해 자세 · 접근 방향을 조정해 재시도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팔 카메라 → 실패 판정 · 보정 자세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성공률 +15%p 이상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S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5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다중 객체 순차 처리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책상 위 물체를 순서대로 선택해 모두 비울 때까지 반복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상단 카메라 → 처리 순서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 전부 처리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S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6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open-vocabulary 인식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사전 정의되지 않은 물체까지 VLM 기반으로 대응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상단 카메라 → 개방 카테고리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대응률 50% 이상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제품 구성 (System)</a:t>
            </a:r>
            <a:endParaRPr lang="en-US" sz="3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04  제품 구성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2026  FOUNDREAMER 인턴십  ·  프로젝트 기획서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6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31520" y="1417320"/>
            <a:ext cx="1682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H/W · S/W · 데이터셋 · 모델. 상단 고정 카메라로 인식 · 좌표 변환을, 팔 장착 카메라로 파지 정렬 · 실패 판정을 맡는다.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972800" y="1920240"/>
            <a:ext cx="658368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1155680" y="207568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6E6E6"/>
          </a:solidFill>
          <a:ln w="9525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11155680" y="2075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H/W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12710160" y="19202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SO-101 로봇팔 (리더 · 팔로워) · 카메라 2대 (상단 고정 + 팔 장착) · 작업 책상 · 카테고리별 수거함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10972800" y="2834640"/>
            <a:ext cx="658368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11155680" y="299008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6E6E6"/>
          </a:solidFill>
          <a:ln w="9525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11155680" y="29900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S/W 수집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12710160" y="2834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텔레오퍼레이션(리더–팔로워) 시연 수집 · 카메라 2시점 촬영 · Roboflow / Ultralytics 라벨링(상단 시점만)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0972800" y="3749040"/>
            <a:ext cx="658368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11155680" y="390448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6E6E6"/>
          </a:solidFill>
          <a:ln w="9525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11155680" y="39044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데이터셋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12710160" y="3749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인식 이미지 1,000장 (상단 시점 · 15종 · 조명 2조건) · 파지 시연 100 에피소드 (텔레오퍼레이션)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10972800" y="4663440"/>
            <a:ext cx="658368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11155680" y="481888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6E6E6"/>
          </a:solidFill>
          <a:ln w="9525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11155680" y="48188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모델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12710160" y="46634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Ultralytics YOLO 100 epoch · 모방학습 베이스 정책(ACT) 50k 스텝 + 강화학습 보정 · GPU A4000 1장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10972800" y="5577840"/>
            <a:ext cx="658368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11155680" y="573328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6E6E6"/>
          </a:solidFill>
          <a:ln w="9525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11155680" y="57332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S/W 추론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8"/>
          <p:cNvSpPr txBox="1"/>
          <p:nvPr/>
        </p:nvSpPr>
        <p:spPr>
          <a:xfrm>
            <a:off x="12710160" y="55778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탐지 → 좌표 변환 → 파지 → 수거함 이송 파이프라인 · SO-101 제어 인터페이스 · (필요 시) ROS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10972800" y="6492240"/>
            <a:ext cx="658368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11155680" y="664768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6E6E6"/>
          </a:solidFill>
          <a:ln w="9525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11155680" y="6647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모니터링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2"/>
          <p:cNvSpPr txBox="1"/>
          <p:nvPr/>
        </p:nvSpPr>
        <p:spPr>
          <a:xfrm>
            <a:off x="12710160" y="64922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인식 정확도 · 파지 성공률 · 보정 전후 비교 기록 · 시연 영상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731520" y="7680960"/>
            <a:ext cx="82296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1005840" y="78455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데이터 수집 계획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Text 35"/>
          <p:cNvSpPr txBox="1"/>
          <p:nvPr/>
        </p:nvSpPr>
        <p:spPr>
          <a:xfrm>
            <a:off x="1005840" y="833932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2주차 인식 이미지 1,000장 (15종 × 조명 2조건 × 배경 2조건) · 학습 : 검증 8 : 2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라벨링은 상단 시점만 — 팔 카메라는 무라벨(정렬 · 정책 관측용)이라 공수 증가 없음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6주차 파지 시연 100 에피소드 — 텔레오퍼레이션 / 보정 학습은 5개 배치 후 1회 리셋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9326880" y="7680960"/>
            <a:ext cx="82296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 txBox="1"/>
          <p:nvPr/>
        </p:nvSpPr>
        <p:spPr>
          <a:xfrm>
            <a:off x="9601200" y="78455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리스크 · 안전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 38"/>
          <p:cNvSpPr txBox="1"/>
          <p:nvPr/>
        </p:nvSpPr>
        <p:spPr>
          <a:xfrm>
            <a:off x="9601200" y="833932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실물 작업이 대면 1인에 집중 → 파지 1차 테스트를 3주차로 당겨 하드웨어 리스크 조기 확인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강화학습 보정량을 ±2cm · ±15°로 제한 / 미달 시 규칙 기반 재시도로 대체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A4000 1장 공유 → 학습 시간대 분배 / 관절 · 속도 제한, 작업 반경 내 사람 접근 시 정지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pic>
        <p:nvPicPr>
          <p:cNvPr id="42" name="Picture 41" descr="슬라이드6_구성도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920240"/>
            <a:ext cx="98755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화면 설계 · 작업 환경</a:t>
            </a:r>
            <a:endParaRPr lang="en-US" sz="3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05  설계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2026  FOUNDREAMER 인턴십  ·  프로젝트 기획서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7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31520" y="1417320"/>
            <a:ext cx="1682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작업 환경과 인식 · 학습 · </a:t>
            </a:r>
            <a:r>
              <a:rPr lang="en-US" sz="1350" i="0" dirty="0" err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시연</a:t>
            </a: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350" i="0" dirty="0" err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화면</a:t>
            </a: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31520" y="8138160"/>
            <a:ext cx="393192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914400" y="81381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작업 환경 셋업 — 로봇팔 · 카메라 2대 배치 · 수거함 위치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983480" y="8138160"/>
            <a:ext cx="393192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5166360" y="81381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객체 탐지 · 분류 결과 — 바운딩박스 · 카테고리 라벨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9235440" y="8138160"/>
            <a:ext cx="393192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9418320" y="81381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정책 학습 — 시뮬레이션 · loss 곡선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3487400" y="8138160"/>
            <a:ext cx="393192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13670280" y="81381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실물 파지 · 이송 시연 — 성공 · 실패 판정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pic>
        <p:nvPicPr>
          <p:cNvPr id="25" name="Picture 24" descr="화면1_작업환경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920240"/>
            <a:ext cx="3931920" cy="6035040"/>
          </a:xfrm>
          <a:prstGeom prst="rect">
            <a:avLst/>
          </a:prstGeom>
        </p:spPr>
      </p:pic>
      <p:pic>
        <p:nvPicPr>
          <p:cNvPr id="26" name="Picture 25" descr="화면2_탐지결과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920240"/>
            <a:ext cx="3931920" cy="6035040"/>
          </a:xfrm>
          <a:prstGeom prst="rect">
            <a:avLst/>
          </a:prstGeom>
        </p:spPr>
      </p:pic>
      <p:pic>
        <p:nvPicPr>
          <p:cNvPr id="27" name="Picture 26" descr="화면3_시뮬레이션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0" y="1920240"/>
            <a:ext cx="3931920" cy="6035040"/>
          </a:xfrm>
          <a:prstGeom prst="rect">
            <a:avLst/>
          </a:prstGeom>
        </p:spPr>
      </p:pic>
      <p:pic>
        <p:nvPicPr>
          <p:cNvPr id="28" name="Picture 27" descr="화면4_파지시연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87400" y="1920240"/>
            <a:ext cx="3931920" cy="6035040"/>
          </a:xfrm>
          <a:prstGeom prst="rect">
            <a:avLst/>
          </a:prstGeom>
        </p:spPr>
      </p:pic>
      <p:sp>
        <p:nvSpPr>
          <p:cNvPr id="10" name="Text 21">
            <a:extLst>
              <a:ext uri="{FF2B5EF4-FFF2-40B4-BE49-F238E27FC236}">
                <a16:creationId xmlns:a16="http://schemas.microsoft.com/office/drawing/2014/main" id="{60D254DF-F673-2446-CAB2-3B24F34A8CFC}"/>
              </a:ext>
            </a:extLst>
          </p:cNvPr>
          <p:cNvSpPr txBox="1"/>
          <p:nvPr/>
        </p:nvSpPr>
        <p:spPr>
          <a:xfrm>
            <a:off x="16458795" y="1188720"/>
            <a:ext cx="96052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※ </a:t>
            </a:r>
            <a:r>
              <a:rPr lang="ko-KR" alt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컨셉 이미지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성과 목표 (Outcome)</a:t>
            </a:r>
            <a:endParaRPr lang="en-US" sz="3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06  성과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2026  FOUNDREAMER 인턴십  ·  프로젝트 기획서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8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31520" y="1920240"/>
            <a:ext cx="5120640" cy="3657600"/>
          </a:xfrm>
          <a:prstGeom prst="rect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005840" y="21945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70%</a:t>
            </a:r>
            <a:endParaRPr lang="en-US" sz="5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005840" y="3657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대표 지표 — 파지 성공률</a:t>
            </a:r>
            <a:endParaRPr lang="en-US" sz="15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1005840" y="41148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보정 적용 · 30회 시도 기준 / 학습에 없던 배치 포함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920240"/>
          <a:ext cx="11338560" cy="36576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지표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측정 방법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정량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객체 탐지 · 분류 정확도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mAP@0.5 80% · 분류 90% 이상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검증셋 200장 기준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정량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파지 성공률 (보정 적용)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70% 이상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30회 시도 중 성공 횟수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정량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보정 전후 성공률 차이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+15%p 이상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동일 30회, 보정 전 / 후 비교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정량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open-vocabulary 대응률 (확장)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50% 이상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미등록 물체 10종 × 2회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731520" y="5852160"/>
            <a:ext cx="10972800" cy="3383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1005840" y="60167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최종 시연 시나리오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1005840" y="6510528"/>
            <a:ext cx="10424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① 물건 5개를 책상에 배치(어려운 케이스 포함) → ② 상단 카메라로 탐지 · 분류 → ③ 파지 · 카테고리별 수거함 이송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④ 보정 OFF로 1세트, 같은 배치에서 보정 ON으로 1세트 → ⑤ 두 세트의 성공률을 나란히 표시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화면에 보정량(Δ위치 · Δ각도)을 함께 띄운다. 위 표의 목표치는 9주차 30회 측정 결과로 제시.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실패 시 대안 — 사전 촬영한 시연 영상 재생.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달성 수준 — 최소: 인식 → 파지 → 이송 / 중간: + 규칙 기반 재시도 / 최대: + 학습 기반 보정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12070080" y="5852160"/>
            <a:ext cx="5486400" cy="3383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 txBox="1"/>
          <p:nvPr/>
        </p:nvSpPr>
        <p:spPr>
          <a:xfrm>
            <a:off x="12344400" y="60167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산출물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12344400" y="6510528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☐ 코드 저장소</a:t>
            </a:r>
            <a:endParaRPr lang="en-US" sz="150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50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☐ 데이터셋 (탐지 · 분류 · 파지 실패 케이스)</a:t>
            </a:r>
            <a:endParaRPr lang="en-US" sz="150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50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☐ 학습 모델 체크포인트 (인식 · 강화학습 정책)</a:t>
            </a:r>
            <a:endParaRPr lang="en-US" sz="150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50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☐ 시연 영상</a:t>
            </a:r>
            <a:endParaRPr lang="en-US" sz="150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50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☐ 발표 자료</a:t>
            </a:r>
            <a:endParaRPr lang="en-US" sz="1500" dirty="0"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일정 계획 (10주 · 80시간)</a:t>
            </a:r>
            <a:endParaRPr lang="en-US" sz="3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07  일정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2026  FOUNDREAMER 인턴십  ·  프로젝트 기획서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9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31520" y="1417320"/>
            <a:ext cx="1682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2026. 9. 18. ~ 12. 4. · 금요일 주 1회 8시간 × 10회 = 80시간. 실물 작업은 대면(팀장), 모델 · 도구는 비대면(팀원 2) 병행.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16824960" cy="725119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작업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이번 주 산출물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로봇 구동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대면 — 로봇–PC 연결 · 텔레오퍼레이션 구동 · 인사 동작 구현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비대면 — 리포지토리 · 개발 환경 구축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로봇 구동 확인, 인사 동작 시연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8h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환경 구성 · 수집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대면 — 카메라 2대 캘리브레이션 · 인식 이미지 촬영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비대면 — 인터페이스 규약 정의 · 라벨링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규약 문서, 캘리브레이션, 이미지 1,000장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8h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파지 1차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대면 — 고정 좌표 파지 · 이송 실물 테스트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비대면 — 객체 탐지 · 분류 베이스라인 학습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파지 1차 실물 테스트, 탐지 베이스라인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8h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4주차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인식 · 좌표 연동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대면 — 인식 결과 → 로봇 좌표 변환 연동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비대면 — 인식 성능 개선 · 재학습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좌표 변환 파이프라인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8h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5주차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파지 2차 · 판정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대면 — 인식 기반 파지 실물 테스트 · 성공/실패 판정 기준 정의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비대면 — 실패 유형 분석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판정 기준, 실패 분석표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8h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6주차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시연 데이터 수집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대면 — 텔레오퍼레이션으로 파지 시연 100 에피소드 수집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비대면 — 데이터셋 정제 · 학습 파이프라인 준비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파지 시연 데이터셋 100 에피소드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8h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7~8주차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베이스 정책 · 보정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대면 — 7주 베이스 정책 실물 검증 · 8주 보정 정책 실물 튜닝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비대면 — 7주 모방학습 베이스 정책 학습 · 8주 강화학습 보정 학습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베이스 정책, 보정 정책, 튜닝 결과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16h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9주차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· 평가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대면 — 전체 파이프라인 통합 · 30회 지표 측정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비대면 — 결과 정리 · 여유 시 open-vocabulary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파이프라인, 성능 지표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8h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마무리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대면 — 시연 리허설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비대면 — 발표자료 준비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최종 발표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8h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</a:majorFont>
      <a:minorFont>
        <a:latin typeface="Pretendard" panose="020F0502020204030204"/>
        <a:ea typeface="Pretendard"/>
        <a:cs typeface="Pretendar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1942</Words>
  <Application>Microsoft Office PowerPoint</Application>
  <PresentationFormat>사용자 지정</PresentationFormat>
  <Paragraphs>272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Arial</vt:lpstr>
      <vt:lpstr>Pretendard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기반 데스크 오브젝트 인식·분류 정리 로봇 — 프로젝트 기획서</dc:title>
  <dc:subject>2026 FOUNDREAMER 인턴십 · Physical AI 프로젝트 기획서</dc:subject>
  <dc:creator>PptxGenJS</dc:creator>
  <cp:lastModifiedBy>김태익</cp:lastModifiedBy>
  <cp:revision>9</cp:revision>
  <dcterms:created xsi:type="dcterms:W3CDTF">2026-09-15T18:37:24Z</dcterms:created>
  <dcterms:modified xsi:type="dcterms:W3CDTF">2026-09-18T05:54:31Z</dcterms:modified>
</cp:coreProperties>
</file>