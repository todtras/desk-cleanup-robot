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H---------Laptop-Desktop-Development-26-2-intern\351e7cac-8e71-4c62-a066-bf7e9a7a83da\scratchpad\deck\assets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>
              <a:alpha val="5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6F768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INTERNSHIP PROJECT PROPOSAL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221284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220" kern="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기반 데스크 오브젝트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0906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spc="-220" kern="0" dirty="0">
                <a:solidFill>
                  <a:srgbClr val="7D8AF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인식·분류</a:t>
            </a:r>
            <a:pPr indent="0" marL="0">
              <a:buNone/>
            </a:pPr>
            <a:r>
              <a:rPr lang="en-US" sz="5400" spc="-220" kern="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정리 로봇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224528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카메라로 책상 위 물건을 인식·분류하고, 로봇팔이 지정된 수거함으로 옮겨 담는 시스템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5650992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5833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3인 팀 (팀장 1 · 팀원 2)  ·  80시간 / 10주  ·  A4000 1장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589727" y="58338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20" kern="0" dirty="0">
                <a:solidFill>
                  <a:srgbClr val="7D8A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DETECTION · REINFORCEMENT LEARNING · ROBOT ARM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6F768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20" kern="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046927" y="14813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배경에서 계획까지 다섯 단계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395728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5786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7D8AF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47088" y="25786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132527" y="25786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주제 선정 배경과 목적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3145536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32841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7D8AF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847088" y="33284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132527" y="33284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프로젝트 목표 4가지와 동작 흐름 6단계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3895344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0782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7D8AF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847088" y="40782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132527" y="4078224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예상 기술 스택과 두 가지 핵심 과제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645152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828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7D8AF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47088" y="48280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132527" y="482803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개발 환경 · 수행 방식 · 팀 구성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5394960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55778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7D8AF5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847088" y="55778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132527" y="55778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일정 · 기대 효과 · 리스크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6144768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384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6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20240" y="457200"/>
            <a:ext cx="12802" cy="731520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31136" y="457200"/>
            <a:ext cx="9302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  ·  BACKGROUND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731520"/>
            <a:ext cx="93021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제어가 아닌 인식·판단 중심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594360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119579"/>
            <a:ext cx="146304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성격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2119579"/>
            <a:ext cx="43434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피지컬 AI 기업 인턴십 프로젝트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944368"/>
            <a:ext cx="594360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125419"/>
            <a:ext cx="146304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 사항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3125419"/>
            <a:ext cx="43434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제어가 아닌 AI 인식·판단 역량이 드러나는 주제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950208"/>
            <a:ext cx="594360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131259"/>
            <a:ext cx="146304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컨셉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58568" y="4131259"/>
            <a:ext cx="43434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로봇팔 + 카메라 조합의 “보고 이해해서 처리한다”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956048"/>
            <a:ext cx="594360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5137099"/>
            <a:ext cx="146304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접근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58568" y="5137099"/>
            <a:ext cx="4343400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고정된 규칙이 아닌 학습 기반 인식을 중심에 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5961888"/>
            <a:ext cx="5943600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938528"/>
            <a:ext cx="4446727" cy="4169664"/>
          </a:xfrm>
          <a:prstGeom prst="roundRect">
            <a:avLst>
              <a:gd name="adj" fmla="val 2632"/>
            </a:avLst>
          </a:prstGeom>
          <a:solidFill>
            <a:srgbClr val="1214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88936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A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줄 소개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2615184"/>
            <a:ext cx="3642055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카메라로 책상 위 물건(필기구, 컵 등)을 인식·분류하고, 로봇팔이 지정된 수거함으로 옮겨 담는 시스템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488936" y="4315968"/>
            <a:ext cx="3642055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88936" y="4517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4754880"/>
            <a:ext cx="36420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데스크 오브젝트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인식·분류 정리 로봇 (가안)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5303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방식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88936" y="5541264"/>
            <a:ext cx="36420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에이전트를 활용한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바이브코딩 중심 개발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384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6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20240" y="457200"/>
            <a:ext cx="12802" cy="731520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31136" y="457200"/>
            <a:ext cx="9302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  ·  GOALS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731520"/>
            <a:ext cx="93021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30337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094890"/>
            <a:ext cx="17373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탐지 · 분류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91256" y="2094890"/>
            <a:ext cx="834207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책상 위 임의의 물건을 카메라로 탐지하고 카테고리를 분류한다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280720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17205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963570"/>
            <a:ext cx="17373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파지 · 투입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91256" y="2963570"/>
            <a:ext cx="834207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결과에 따라 로봇팔이 물건을 파지하여 지정된 수거함에 넣는다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367588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404073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832250"/>
            <a:ext cx="17373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 보정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91256" y="3832250"/>
            <a:ext cx="834207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실패를 강화학습 기반으로 보정하여 반복 시도 성공률을 개선한다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54456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90941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700930"/>
            <a:ext cx="17373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4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 어휘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4700930"/>
            <a:ext cx="834207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사전에 정의되지 않은 물건에도 어느 정도 대응 가능한 인식 구조를 목표로 한다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541324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559552"/>
            <a:ext cx="10874959" cy="566928"/>
          </a:xfrm>
          <a:prstGeom prst="roundRect">
            <a:avLst>
              <a:gd name="adj" fmla="val 19355"/>
            </a:avLst>
          </a:prstGeom>
          <a:solidFill>
            <a:srgbClr val="E8EB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2416" y="5559552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난이도 설계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3·4번은 단순 고정 클래스 분류보다 난이도와 AI 비중을 높이기 위한 목표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목표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SCOPE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흐름 6단계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50916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194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8A909E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7552" y="2560320"/>
            <a:ext cx="274320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272491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 탐지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127248"/>
            <a:ext cx="2850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책상 위 물체의 위치·바운딩박스 검출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1266" y="1938528"/>
            <a:ext cx="350916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0450" y="2194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8A909E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0450" y="2560320"/>
            <a:ext cx="274320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70450" y="272491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 분류 · 인식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70450" y="3127248"/>
            <a:ext cx="2850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필기구 / 컵 / 기타 카테고리 판별. 가능하면 open-vocabulary로 미등록 물체까지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4165" y="1938528"/>
            <a:ext cx="350916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3349" y="2194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8A909E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53349" y="2560320"/>
            <a:ext cx="274320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53349" y="272491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 변환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53349" y="3127248"/>
            <a:ext cx="2850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좌표 → 로봇팔 좌표계 변환 · 캘리브레이션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133088"/>
            <a:ext cx="350916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8A909E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7552" y="4754880"/>
            <a:ext cx="274320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87552" y="49194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5321808"/>
            <a:ext cx="2850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 결과 기반 파지 자세 계산 및 실행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1266" y="4133088"/>
            <a:ext cx="350916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70450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8A909E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70450" y="4754880"/>
            <a:ext cx="274320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70450" y="49194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분류함 이동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70450" y="5321808"/>
            <a:ext cx="2850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지정 수거함으로 이동 후 릴리즈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24165" y="4133088"/>
            <a:ext cx="350916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3349" y="43891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" kern="0" dirty="0">
                <a:solidFill>
                  <a:srgbClr val="8A909E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53349" y="4754880"/>
            <a:ext cx="274320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53349" y="4919472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실패 보정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53349" y="5321808"/>
            <a:ext cx="28507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성공·실패 판정 후 강화학습 정책으로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자세·접근 방향을 보정해 재시도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384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6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20240" y="457200"/>
            <a:ext cx="12802" cy="731520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31136" y="457200"/>
            <a:ext cx="9302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 ·  TECH STACK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731520"/>
            <a:ext cx="93021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기술 스택 키워드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9264" y="22494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9264" y="2615184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" y="27797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32004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Detection (YOLO 계열)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Open-Vocabulary Detection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(Grounding DINO, CLIP)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19856" y="1938528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30752" y="22494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30752" y="2615184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730752" y="27797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제어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32004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좌표 캘리브레이션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Eye-in-hand / Eye-to-hand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역기구학 기반 파지 자세 계산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1344" y="1938528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22494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2615184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27797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강화학습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2004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실패 보정 정책 학습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시뮬레이터 선학습 → 실물 전이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Isaac Sim / PyBullet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42832" y="1938528"/>
            <a:ext cx="2587752" cy="2834640"/>
          </a:xfrm>
          <a:prstGeom prst="roundRect">
            <a:avLst>
              <a:gd name="adj" fmla="val 424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53728" y="22494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53728" y="2615184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53728" y="2779776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-3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기타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320040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(물체 표면 텍스트)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/ 제어 프레임워크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로봇팔 사양에 따라 결정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" y="5230368"/>
            <a:ext cx="10874959" cy="566928"/>
          </a:xfrm>
          <a:prstGeom prst="roundRect">
            <a:avLst>
              <a:gd name="adj" fmla="val 19355"/>
            </a:avLst>
          </a:prstGeom>
          <a:solidFill>
            <a:srgbClr val="E8EB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2416" y="5230368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도구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에이전트(Claude Code 등)를 활용한 바이브코딩 — 구현 코드 작성을 에이전트에 위임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기술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KEY CHALLENGE 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실패 보정 — 강화학습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38528"/>
            <a:ext cx="59436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— </a:t>
            </a:r>
            <a:pPr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성공·실패를 판정한 뒤, 강화학습 정책으로 자세와 접근 방향을 보정해 재시도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— </a:t>
            </a:r>
            <a:pPr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시뮬레이터에서 선학습한 뒤 실물에 적용 (Isaac Sim / PyBullet)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— </a:t>
            </a:r>
            <a:pPr indent="0" marL="0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sim-to-real 격차는 실물 데이터 기반 미세조정으로 보완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86600" y="1938528"/>
            <a:ext cx="4446727" cy="1847088"/>
          </a:xfrm>
          <a:prstGeom prst="roundRect">
            <a:avLst>
              <a:gd name="adj" fmla="val 5941"/>
            </a:avLst>
          </a:prstGeom>
          <a:solidFill>
            <a:srgbClr val="F1F1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97496" y="2084832"/>
            <a:ext cx="3824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spc="-120" kern="0" dirty="0">
                <a:solidFill>
                  <a:srgbClr val="1214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16h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397496" y="2852928"/>
            <a:ext cx="3824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6~7주차 배정 · 강화학습 기반 파지 보정 정책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및 실물 적용·튜닝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4078224"/>
            <a:ext cx="10874959" cy="2066544"/>
          </a:xfrm>
          <a:prstGeom prst="roundRect">
            <a:avLst>
              <a:gd name="adj" fmla="val 5310"/>
            </a:avLst>
          </a:prstGeom>
          <a:solidFill>
            <a:srgbClr val="1214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43159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A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보정 루프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4754880"/>
            <a:ext cx="2302688" cy="20117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78992" y="4864608"/>
            <a:ext cx="230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F768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01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5102352"/>
            <a:ext cx="230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실행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5449824"/>
            <a:ext cx="230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9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분류 결과 기반 자세로 접근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6000" y="4754880"/>
            <a:ext cx="2302688" cy="20117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6000" y="4864608"/>
            <a:ext cx="230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F768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02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6000" y="5102352"/>
            <a:ext cx="230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성공·실패 판정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6000" y="5449824"/>
            <a:ext cx="230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9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판정 기준은 4주차에 정의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3008" y="4754880"/>
            <a:ext cx="2302688" cy="20117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33008" y="4864608"/>
            <a:ext cx="230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6F768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03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5102352"/>
            <a:ext cx="230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 보정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33008" y="5449824"/>
            <a:ext cx="230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9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자세·접근 방향을 강화학습으로 조정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10015" y="4754880"/>
            <a:ext cx="2302688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10015" y="4864608"/>
            <a:ext cx="230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7D8A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STEP 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810015" y="5102352"/>
            <a:ext cx="230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재시도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810015" y="5449824"/>
            <a:ext cx="230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D93A3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반복 시도 성공률 개선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기술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KEY CHALLENGE 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Open-Vocabulary 인식 — 확장 과제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9848" y="2304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기본 범위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761488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300" b="1" spc="-60" kern="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사전에 정의된 카테고리
</a:t>
            </a:r>
            <a:pPr indent="0" marL="0">
              <a:lnSpc>
                <a:spcPct val="122000"/>
              </a:lnSpc>
              <a:buNone/>
            </a:pPr>
            <a:r>
              <a:rPr lang="en-US" sz="2300" b="1" spc="-6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필기구 / 컵 / 기타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43342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고정 클래스 분류 — 학습한 물체만 처리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1938528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1214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92824" y="2304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A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목표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92824" y="2761488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300" b="1" spc="-60" kern="0" dirty="0">
                <a:solidFill>
                  <a:srgbClr val="C9CD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정의되지 않은 물건까지
</a:t>
            </a:r>
            <a:pPr indent="0" marL="0">
              <a:lnSpc>
                <a:spcPct val="122000"/>
              </a:lnSpc>
              <a:buNone/>
            </a:pPr>
            <a:r>
              <a:rPr lang="en-US" sz="2300" b="1" spc="-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기반 open-vocabulary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592824" y="43342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68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미등록 물체에도 어느 정도 대응 가능한 구조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5394960"/>
            <a:ext cx="10874959" cy="566928"/>
          </a:xfrm>
          <a:prstGeom prst="roundRect">
            <a:avLst>
              <a:gd name="adj" fmla="val 19355"/>
            </a:avLst>
          </a:prstGeom>
          <a:solidFill>
            <a:srgbClr val="F1F1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2416" y="5394960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우선순위 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80시간 내 강화학습까지 정규 단계로 수행해야 하므로 후순위 — 9주차 일정 여유에 따라 결정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384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6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20240" y="457200"/>
            <a:ext cx="12802" cy="731520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31136" y="457200"/>
            <a:ext cx="9302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환경  ·  ENVIRONMENT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731520"/>
            <a:ext cx="93021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환경 — A4000 1장을 팀이 공유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2587752" cy="1481328"/>
          </a:xfrm>
          <a:prstGeom prst="roundRect">
            <a:avLst>
              <a:gd name="adj" fmla="val 7407"/>
            </a:avLst>
          </a:prstGeom>
          <a:solidFill>
            <a:srgbClr val="F1F1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9264" y="208483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spc="-120" kern="0" dirty="0">
                <a:solidFill>
                  <a:srgbClr val="1214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A4000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28529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1장 · 팀 공용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1938528"/>
            <a:ext cx="2587752" cy="1481328"/>
          </a:xfrm>
          <a:prstGeom prst="roundRect">
            <a:avLst>
              <a:gd name="adj" fmla="val 7407"/>
            </a:avLst>
          </a:prstGeom>
          <a:solidFill>
            <a:srgbClr val="F1F1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30752" y="208483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spc="-120" kern="0" dirty="0">
                <a:solidFill>
                  <a:srgbClr val="1214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80h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730752" y="28529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 시간 · 주 1회 8시간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938528"/>
            <a:ext cx="2587752" cy="1481328"/>
          </a:xfrm>
          <a:prstGeom prst="roundRect">
            <a:avLst>
              <a:gd name="adj" fmla="val 7407"/>
            </a:avLst>
          </a:prstGeom>
          <a:solidFill>
            <a:srgbClr val="F1F1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08483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spc="-120" kern="0" dirty="0">
                <a:solidFill>
                  <a:srgbClr val="1214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10주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529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기간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42832" y="1938528"/>
            <a:ext cx="2587752" cy="1481328"/>
          </a:xfrm>
          <a:prstGeom prst="roundRect">
            <a:avLst>
              <a:gd name="adj" fmla="val 7407"/>
            </a:avLst>
          </a:prstGeom>
          <a:solidFill>
            <a:srgbClr val="F1F1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53728" y="2084832"/>
            <a:ext cx="1965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spc="-120" kern="0" dirty="0">
                <a:solidFill>
                  <a:srgbClr val="12141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3인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8529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 1명 + 팀원 2명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694176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802807"/>
            <a:ext cx="1554480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GPU 운영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350008" y="3802807"/>
            <a:ext cx="9183319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 모델 학습과 강화학습이 A4000 1장을 공유 → 요일·시간대 분할, 학습 잡 큐 운영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4297680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406311"/>
            <a:ext cx="1554480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실험 규모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50008" y="4406311"/>
            <a:ext cx="9183319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해상도·스텝 수를 사전 조정하여 자원 경합 완화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" y="490118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5009815"/>
            <a:ext cx="1554480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 방식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350008" y="5009815"/>
            <a:ext cx="9183319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코딩 에이전트를 활용한 바이브코딩 중심 개발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" y="550468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5613319"/>
            <a:ext cx="1554480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미확정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350008" y="5613319"/>
            <a:ext cx="9183319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로봇팔·카메라 사양 확정 후 제어 프레임워크(ROS 등) 결정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" y="6108192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환경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METHOD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활용 개발 방식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9848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에이전트가 맡는 것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6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코드 작성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4564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모듈 단위 구현을 에이전트에 위임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81344" y="1938528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214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92824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AF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팀이 맡는 것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92824" y="272491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-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 설계 · 검증 · 실물 튜닝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592824" y="34564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F768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사람의 시간을 판단이 필요한 곳에 집중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480560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4576023"/>
            <a:ext cx="155448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규약 우선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350008" y="4576023"/>
            <a:ext cx="9183319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착수 시점에 모듈 간 입출력 규약(탐지 결과 포맷, 좌표계, 파지 명령 스키마)을 문서로 고정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010912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5106375"/>
            <a:ext cx="155448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후 병합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350008" y="5106375"/>
            <a:ext cx="9183319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생성한 코드는 테스트 코드와 실물·시뮬레이션 검증을 거쳐 병합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554126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5636727"/>
            <a:ext cx="1554480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재배분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350008" y="5636727"/>
            <a:ext cx="9183319" cy="360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시간 단축분을 실물 테스트와 강화학습 실험 시간으로 재배분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" y="6071616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환경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협업 방식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50916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249424"/>
            <a:ext cx="27776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88336"/>
            <a:ext cx="2777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대면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27776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로봇팔 제어, 좌표 캘리브레이션, 파지 실행, 통합 디버깅, 실물 테스트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1266" y="1938528"/>
            <a:ext cx="350916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7026" y="2249424"/>
            <a:ext cx="27776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7026" y="2688336"/>
            <a:ext cx="2777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비대면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07026" y="3017520"/>
            <a:ext cx="27776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 탐지·분류 모델 개발 및 학습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24165" y="1938528"/>
            <a:ext cx="350916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89925" y="2249424"/>
            <a:ext cx="27776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B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89925" y="2688336"/>
            <a:ext cx="2777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비대면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9925" y="3017520"/>
            <a:ext cx="27776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 구축, 파지 보정 강화학습, 성능 평가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151376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253423"/>
            <a:ext cx="1554480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인터페이스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350008" y="4253423"/>
            <a:ext cx="9183319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입출력 포맷을 초기에 합의하여 비대면 팀원도 각자 모듈을 독립 개발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71830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820351"/>
            <a:ext cx="1554480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 리뷰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50008" y="4820351"/>
            <a:ext cx="9183319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주차별로 팀원이 직접 코드를 리뷰하는 시간 확보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5285232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5387279"/>
            <a:ext cx="1554480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GPU 분배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350008" y="5387279"/>
            <a:ext cx="9183319" cy="385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 모델 학습과 강화학습의 학습 시간대를 사전 분배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5852160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1214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384048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6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920240" y="457200"/>
            <a:ext cx="12802" cy="731520"/>
          </a:xfrm>
          <a:prstGeom prst="rect">
            <a:avLst/>
          </a:prstGeom>
          <a:solidFill>
            <a:srgbClr val="343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31136" y="457200"/>
            <a:ext cx="9302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93A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계획  ·  SCHEDULE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731520"/>
            <a:ext cx="93021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 — 10주 · 80시간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020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1주 · 8h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167128" y="20208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확정, 환경 세팅, 인터페이스 규약 정의, 에이전트 개발 환경 구축, 데이터 수집 시작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3957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478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2주 · 8h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67128" y="24780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객체 탐지·분류 베이스라인 구축, 카메라-로봇팔 캘리브레이션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28529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935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3주 · 8h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167128" y="29352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 성능 개선, 인식 결과 → 로봇 좌표 변환 파이프라인 연동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3101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3924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4주 · 8h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67128" y="33924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로직 구현 및 1차 실물 테스트, 파지 성공·실패 판정 기준 정의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37673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8496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5주 · 8h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167128" y="38496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 환경 구축, 파지 실패 케이스 데이터 수집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42245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306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6~7주 · 16h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167128" y="43068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강화학습 기반 파지 보정 정책 학습 및 실물 적용·튜닝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46817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764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8주 · 8h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67128" y="47640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파이프라인 통합 테스트, 실패 케이스 보완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" y="51389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52212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9주 · 8h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167128" y="52212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지표 측정, 시연 시나리오 정리, 여유 시 open-vocabulary 확장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55961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56784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10주 · 8h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167128" y="5678424"/>
            <a:ext cx="9366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발표자료 준비, 최종 리허설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60533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계획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EXPECTED OUTCOME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50916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28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" y="2816352"/>
            <a:ext cx="27776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엔드투엔드 경험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3255264"/>
            <a:ext cx="277764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인식(AI)과 제어(로봇팔)를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결합한 엔드투엔드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구축 경험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1266" y="1938528"/>
            <a:ext cx="350916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7026" y="228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7026" y="2651760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7026" y="2816352"/>
            <a:ext cx="27776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제품에 가까운 문제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707026" y="3255264"/>
            <a:ext cx="277764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클래스가 아닌 유연한 인식 구조로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피지컬 AI 제품에 가까운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 경험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24165" y="1938528"/>
            <a:ext cx="350916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9925" y="228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" kern="0" dirty="0">
                <a:solidFill>
                  <a:srgbClr val="2540F2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89925" y="2651760"/>
            <a:ext cx="310896" cy="20117"/>
          </a:xfrm>
          <a:prstGeom prst="rect">
            <a:avLst/>
          </a:prstGeom>
          <a:solidFill>
            <a:srgbClr val="254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89925" y="2816352"/>
            <a:ext cx="27776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연구 방향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389925" y="3255264"/>
            <a:ext cx="277764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케이스 분석을 통해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강화학습·데이터 보강 등</a:t>
            </a:r>
            <a:endParaRPr lang="en-US" sz="12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545A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연구 방향 도출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61327" y="5120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09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계획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512064"/>
            <a:ext cx="6120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RISK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868680"/>
            <a:ext cx="1087495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-4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및 대응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57034"/>
            <a:ext cx="2103120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일정 압박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98648" y="2057034"/>
            <a:ext cx="8634679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80시간 내 강화학습까지 수행 → open-vocabulary는 후순위, 일정 여유에 따라 결정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596896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715402"/>
            <a:ext cx="2103120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GPU 자원 경합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715402"/>
            <a:ext cx="8634679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A4000 1장 공유 → 학습 시간대 분배, 실험 규모(해상도·스텝 수) 사전 조정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25526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3373770"/>
            <a:ext cx="2103120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sim-to-real 격차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898648" y="3373770"/>
            <a:ext cx="8634679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 정책이 실물에서 그대로 동작하지 않음 → 6~7주차에 실물 미세조정 시간 확보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913632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032138"/>
            <a:ext cx="2103120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원격 개발 제약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98648" y="4032138"/>
            <a:ext cx="8634679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팀원의 실물 로봇 접근 곤란 → 시뮬레이션·수집 데이터 기반 개발, 초기 인터페이스 합의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4572000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4690506"/>
            <a:ext cx="2103120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캘리브레이션 정확도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898648" y="4690506"/>
            <a:ext cx="8634679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파지 성공률에 큰 영향 → 초반에 충분한 시간 배정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230368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5348874"/>
            <a:ext cx="2103120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40F2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 이해도 저하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98648" y="5348874"/>
            <a:ext cx="8634679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-20" kern="0" dirty="0">
                <a:solidFill>
                  <a:srgbClr val="121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바이브코딩 특성 → 모듈 경계와 테스트를 명확히 하고 주차별 코드 리뷰 확보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5888736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6364224"/>
            <a:ext cx="10874959" cy="0"/>
          </a:xfrm>
          <a:prstGeom prst="line">
            <a:avLst/>
          </a:prstGeom>
          <a:noFill/>
          <a:ln w="9525">
            <a:solidFill>
              <a:srgbClr val="E3E3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64556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A909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데스크 오브젝트 정리 로봇 · 인턴십 프로젝트 기획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618927" y="6455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60" kern="0" dirty="0">
                <a:solidFill>
                  <a:srgbClr val="8A909E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H---------Laptop-Desktop-Development-26-2-intern\351e7cac-8e71-4c62-a066-bf7e9a7a83da\scratchpad\deck\assets\clo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>
              <a:alpha val="5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749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6F768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2615184"/>
            <a:ext cx="10881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spc="-180" kern="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712464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AI 기반 데스크 오브젝트 인식·분류 정리 로봇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5650992"/>
            <a:ext cx="10874959" cy="0"/>
          </a:xfrm>
          <a:prstGeom prst="line">
            <a:avLst/>
          </a:prstGeom>
          <a:noFill/>
          <a:ln w="9525">
            <a:solidFill>
              <a:srgbClr val="2E32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5833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D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3인 팀 (팀장 1 · 팀원 2)  ·  80시간 / 10주  ·  A4000 1장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데스크 오브젝트 인식·분류 정리 로봇</dc:title>
  <dc:subject>PptxGenJS Presentation</dc:subject>
  <dc:creator>인턴십 프로젝트 팀</dc:creator>
  <cp:lastModifiedBy>인턴십 프로젝트 팀</cp:lastModifiedBy>
  <cp:revision>1</cp:revision>
  <dcterms:created xsi:type="dcterms:W3CDTF">2026-09-14T14:54:37Z</dcterms:created>
  <dcterms:modified xsi:type="dcterms:W3CDTF">2026-09-14T14:54:37Z</dcterms:modified>
</cp:coreProperties>
</file>