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3" r:id="rId3"/>
    <p:sldId id="257" r:id="rId4"/>
    <p:sldId id="264" r:id="rId5"/>
    <p:sldId id="265" r:id="rId7"/>
    <p:sldId id="266" r:id="rId8"/>
    <p:sldId id="267" r:id="rId6"/>
    <p:sldId id="268" r:id="rId16"/>
  </p:sldIdLst>
  <p:sldSz cx="18288000" cy="10287000"/>
  <p:notesSz cx="10287000" cy="18288000"/>
  <p:embeddedFontLst>
    <p:embeddedFont>
      <p:font typeface="Pretendard" panose="02000503000000020004" pitchFamily="50" charset="-127"/>
      <p:regular r:id="rId10"/>
      <p:bold r:id="rId1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198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0693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retendard"/>
          <a:ea typeface="Pretendard"/>
          <a:cs typeface="Pretendard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Pretendard"/>
          <a:ea typeface="Pretendard"/>
          <a:cs typeface="Pretendard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Pretendard"/>
          <a:ea typeface="Pretendard"/>
          <a:cs typeface="Pretendard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Pretendard"/>
          <a:ea typeface="Pretendard"/>
          <a:cs typeface="Pretendard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9pPr>
    </p:bodyStyle>
    <p:otherStyle>
      <a:defPPr>
        <a:defRPr lang="en-US">
          <a:latin typeface="Pretendard"/>
          <a:ea typeface="Pretendard"/>
          <a:cs typeface="Pretendard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Relationship Id="rId7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10560" y="502920"/>
            <a:ext cx="1737360" cy="1636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2743200"/>
            <a:ext cx="1280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부산대학교 AI융합교육원 인턴십  —  Physical AI 프로젝트 (비전 기반 픽 앤 플레이스 자율 제어)</a:t>
            </a:r>
            <a:endParaRPr lang="en-US" sz="15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1097280" y="329184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중간 보고서</a:t>
            </a:r>
            <a:endParaRPr lang="en-US" sz="5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1097280" y="4480560"/>
            <a:ext cx="1554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i="0" dirty="0">
                <a:solidFill>
                  <a:srgbClr val="D1D5DB"/>
                </a:solidFill>
                <a:latin typeface="Pretendard"/>
                <a:ea typeface="Pretendard"/>
                <a:cs typeface="Pretendard"/>
              </a:rPr>
              <a:t>모방학습(ACT) 기반 로봇 팔 픽 앤 플레이스 자율 제어  —  객체 인식 · 분류 · 자율 정리</a:t>
            </a:r>
            <a:endParaRPr lang="en-US" sz="2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097280" y="5577840"/>
            <a:ext cx="1554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0" dirty="0">
                <a:solidFill>
                  <a:srgbClr val="D1D5DB"/>
                </a:solidFill>
                <a:latin typeface="Pretendard"/>
                <a:ea typeface="Pretendard"/>
                <a:cs typeface="Pretendard"/>
              </a:rPr>
              <a:t>목표  ·  현재 진행 상황  ·  남은 할 것  ·  이슈 사항  ·  사진 · 영상</a:t>
            </a:r>
            <a:endParaRPr lang="en-US" sz="15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1097280" y="7863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i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작성자  김태익  ·  </a:t>
            </a:r>
            <a:r>
              <a:rPr lang="en-US" sz="1800" b="1" i="0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팀원</a:t>
            </a:r>
            <a:r>
              <a:rPr lang="en-US" sz="1800" b="1" i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 </a:t>
            </a:r>
            <a:r>
              <a:rPr lang="en-US" sz="1800" b="1" i="0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정의</a:t>
            </a:r>
            <a:r>
              <a:rPr lang="ko-KR" altLang="en-US" sz="1800" b="1" i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찬</a:t>
            </a:r>
            <a:r>
              <a:rPr lang="en-US" sz="1800" b="1" i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· 지동현</a:t>
            </a:r>
            <a:endParaRPr lang="en-US" sz="1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1097280" y="8321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0" dirty="0">
                <a:solidFill>
                  <a:srgbClr val="D1D5DB"/>
                </a:solidFill>
                <a:latin typeface="Pretendard"/>
                <a:ea typeface="Pretendard"/>
                <a:cs typeface="Pretendard"/>
              </a:rPr>
              <a:t>작성일  2026.  10.  30.  (5회차 기준)</a:t>
            </a:r>
            <a:endParaRPr lang="en-US" sz="15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1097280" y="9418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2026  FOUNDREAMER  인턴십  ·  Physical AI 프로젝트 중간 보고서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10972800" y="94183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지도  (정) 김세영 이사(CPO)  ·  (부) 홍봉희 교수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280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프로젝트 목표 (Goal)</a:t>
            </a:r>
            <a:endParaRPr lang="en-US" sz="3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3350240" y="5669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5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01  목표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6824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9555480"/>
            <a:ext cx="384048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9601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2026  FOUNDREAMER 인턴십  ·  중간 보고서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6642080" y="9601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2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31520" y="4572000"/>
            <a:ext cx="5120640" cy="4663440"/>
          </a:xfrm>
          <a:prstGeom prst="rect">
            <a:avLst/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1005840" y="534924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70%</a:t>
            </a:r>
            <a:endParaRPr lang="en-US" sz="5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1005840" y="6812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대표 지표 — 파지 · 이송 성공률 (목표)</a:t>
            </a:r>
            <a:endParaRPr lang="en-US" sz="15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1005840" y="726948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새 환경(v2) 정책 학습 중 — 정식 측정은 v2 학습 완료 후</a:t>
            </a:r>
            <a:endParaRPr lang="en-US" sz="1350" dirty="0">
              <a:latin typeface="Pretendard"/>
              <a:ea typeface="Pretendard"/>
              <a:cs typeface="Pretendard"/>
            </a:endParaRPr>
          </a:p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(4회차 참고치 테이프 13/31 · 물병 8/14는 환경 변경으로 무효)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4572000"/>
          <a:ext cx="11338560" cy="46634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95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지표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목표치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현재 (중간)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상태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09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탐지 정확도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mAP@0.5 80% 이상 (7클래스)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mAP50 0.994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mAP50-95 0.799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달성 — 단, val이 학습과 같은 환경이라 낙관적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09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시연 데이터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파지 시연 100 에피소드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새 환경 5종 250 에피소드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(이전 400 에피소드는 보관)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달성 — 환경 변경으로 재수집 완료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09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파지 성공률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70% 이상 (물체별 30회)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v2 1만 스텝 시험 중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(물병 가운데 위치 파지 성공)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정식 측정 전 (6주차)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09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자율 동작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YOLO → ACT → 수거함 → home 반복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5종 연동 완료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종이 파지 · 이송 시연 영상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진행 중 — v2 학습 완료 후 5종 반복 정리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731520" y="1920240"/>
            <a:ext cx="10972800" cy="23774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 txBox="1"/>
          <p:nvPr/>
        </p:nvSpPr>
        <p:spPr>
          <a:xfrm>
            <a:off x="1005840" y="208483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최종 목표</a:t>
            </a:r>
            <a:endParaRPr lang="en-US" sz="2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2"/>
          <p:cNvSpPr txBox="1"/>
          <p:nvPr/>
        </p:nvSpPr>
        <p:spPr>
          <a:xfrm>
            <a:off x="1005840" y="2578608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책상 위 물건 5종(테이프 · 물병 · 펜 · 지우개 · 구겨진 종이)을 head 카메라 YOLO로 판별</a:t>
            </a:r>
            <a:endParaRPr lang="en-US" sz="1350" dirty="0">
              <a:latin typeface="Pretendard"/>
              <a:ea typeface="Pretendard"/>
              <a:cs typeface="Pretendard"/>
            </a:endParaRPr>
          </a:p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→ 물체별 ACT 정책이 집어 10cm 들어올림 → 저장 자세로 수거함까지 이동 → 놓기 → home</a:t>
            </a:r>
            <a:endParaRPr lang="en-US" sz="1350" dirty="0">
              <a:latin typeface="Pretendard"/>
              <a:ea typeface="Pretendard"/>
              <a:cs typeface="Pretendard"/>
            </a:endParaRPr>
          </a:p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남은 물체가 없을 때까지 반복. 수거함 3칸: 필기구(펜 · 지우개) / 사무용품(테이프) / 쓰레기(물병 · 종이)</a:t>
            </a:r>
            <a:endParaRPr lang="en-US" sz="1350" dirty="0">
              <a:latin typeface="Pretendard"/>
              <a:ea typeface="Pretendard"/>
              <a:cs typeface="Pretendard"/>
            </a:endParaRPr>
          </a:p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대표 지표: 물체별 30회 시도 성공률 70% 이상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12070080" y="1920240"/>
            <a:ext cx="5486400" cy="23774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 txBox="1"/>
          <p:nvPr/>
        </p:nvSpPr>
        <p:spPr>
          <a:xfrm>
            <a:off x="12344400" y="20848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중간 점검 요약</a:t>
            </a:r>
            <a:endParaRPr lang="en-US" sz="2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5"/>
          <p:cNvSpPr txBox="1"/>
          <p:nvPr/>
        </p:nvSpPr>
        <p:spPr>
          <a:xfrm>
            <a:off x="12344400" y="2578608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· 데이터 · 학습 서버 · 실행 스크립트 확보, 첫 자율 동작 도달</a:t>
            </a:r>
            <a:endParaRPr lang="en-US" sz="1500" dirty="0">
              <a:latin typeface="Pretendard"/>
              <a:ea typeface="Pretendard"/>
              <a:cs typeface="Pretendard"/>
            </a:endParaRPr>
          </a:p>
          <a:p>
            <a:pPr marL="0" indent="0">
              <a:buNone/>
            </a:pPr>
            <a:r>
              <a:rPr lang="en-US" sz="150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· 5회차: 환경 변경을 확인하고 5종 시연 재수집 · 재학습</a:t>
            </a:r>
            <a:endParaRPr lang="en-US" sz="1500" dirty="0">
              <a:latin typeface="Pretendard"/>
              <a:ea typeface="Pretendard"/>
              <a:cs typeface="Pretendard"/>
            </a:endParaRPr>
          </a:p>
          <a:p>
            <a:pPr marL="0" indent="0">
              <a:buNone/>
            </a:pPr>
            <a:r>
              <a:rPr lang="en-US" sz="150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· 남은 핵심: 환경 고정 · 시연 범위 보강 · 정식 성공률 측정</a:t>
            </a:r>
            <a:endParaRPr lang="en-US" sz="1500" dirty="0"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280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현재 진행 상황 — 요약</a:t>
            </a:r>
            <a:endParaRPr lang="en-US" sz="3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3350240" y="5669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5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02  진행 상황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6824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9555480"/>
            <a:ext cx="384048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9601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2026  FOUNDREAMER 인턴십  ·  중간 보고서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6642080" y="9601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3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31520" y="3474720"/>
            <a:ext cx="8229600" cy="1828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1005840" y="363931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객체 인식 (YOLO)</a:t>
            </a:r>
            <a:endParaRPr lang="en-US" sz="2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1005840" y="4133088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yolo11n · 7클래스, 첫 학습 mAP50 0.994 / mAP50-95 0.799</a:t>
            </a:r>
            <a:endParaRPr lang="en-US" sz="1350" dirty="0">
              <a:latin typeface="Pretendard"/>
              <a:ea typeface="Pretendard"/>
              <a:cs typeface="Pretendard"/>
            </a:endParaRPr>
          </a:p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v4(뚜껑 물병 50장 추가)로 교체: 뚜껑 물병 0/13 → 13/13</a:t>
            </a:r>
            <a:endParaRPr lang="en-US" sz="1350" dirty="0">
              <a:latin typeface="Pretendard"/>
              <a:ea typeface="Pretendard"/>
              <a:cs typeface="Pretendard"/>
            </a:endParaRPr>
          </a:p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추론 조건 imgsz 640 · conf 0.3 고정 (960이면 물병 탐지 0/19)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9326880" y="3474720"/>
            <a:ext cx="8229600" cy="1828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9601200" y="363931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데이터셋 · 라벨링</a:t>
            </a:r>
            <a:endParaRPr lang="en-US" sz="2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9601200" y="4133088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Roboflow 바운딩 박스 7클래스 (bottle · eraser · paper · pen · stapler · tape · vinyl)</a:t>
            </a:r>
            <a:endParaRPr lang="en-US" sz="1350" dirty="0">
              <a:latin typeface="Pretendard"/>
              <a:ea typeface="Pretendard"/>
              <a:cs typeface="Pretendard"/>
            </a:endParaRPr>
          </a:p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라벨링 가이드 작성, 영상 단위 train/val 분할 (val 33장)</a:t>
            </a:r>
            <a:endParaRPr lang="en-US" sz="1350" dirty="0">
              <a:latin typeface="Pretendard"/>
              <a:ea typeface="Pretendard"/>
              <a:cs typeface="Pretendard"/>
            </a:endParaRPr>
          </a:p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녹화 · 프레임 추출 도구, 팀 3명 분담 라벨링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31520" y="1645920"/>
            <a:ext cx="1682496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1005840" y="1810512"/>
            <a:ext cx="1627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전체 진척 — 5회차 (9/18 · 10/2 · 10/16 · 10/23 · 10/30)</a:t>
            </a:r>
            <a:endParaRPr lang="en-US" sz="2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1005840" y="2304288"/>
            <a:ext cx="1627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첫 자율 동작 도달 후, 환경 변경(카메라 구도 · 초점)으로 기존 정책이 맞지 않음을 확인 → 환경 고정 · 5종 시연 재수집(250) · 순환 학습 진행 중.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731520" y="5577840"/>
            <a:ext cx="8229600" cy="1828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1005840" y="57424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로봇 구동 · 파지</a:t>
            </a:r>
            <a:endParaRPr lang="en-US" sz="2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1005840" y="6236208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SO-101 텔레오퍼레이션 · 캘리브레이션 · home / 수거함 자세 저장</a:t>
            </a:r>
            <a:endParaRPr lang="en-US" sz="1350" dirty="0">
              <a:latin typeface="Pretendard"/>
              <a:ea typeface="Pretendard"/>
              <a:cs typeface="Pretendard"/>
            </a:endParaRPr>
          </a:p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그리퍼 쥠 감지 → 수거함 자세로 이동 (녹화 160개 재생 시 159개 감지)</a:t>
            </a:r>
            <a:endParaRPr lang="en-US" sz="1350" dirty="0">
              <a:latin typeface="Pretendard"/>
              <a:ea typeface="Pretendard"/>
              <a:cs typeface="Pretendard"/>
            </a:endParaRPr>
          </a:p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정책 15fps + 60Hz 보간 전송 + 평활로 동작 끊김 개선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9326880" y="5577840"/>
            <a:ext cx="8229600" cy="1828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9601200" y="57424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 err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정책 학습 (ACT)</a:t>
            </a:r>
            <a:endParaRPr lang="en-US" sz="2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9601200" y="6236208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새 환경 v2: 5종 각 50 = 250 에피소드 (이전 400은 학습 제외 · 보관)</a:t>
            </a:r>
            <a:endParaRPr lang="en-US" sz="1350" dirty="0">
              <a:latin typeface="Pretendard"/>
              <a:ea typeface="Pretendard"/>
              <a:cs typeface="Pretendard"/>
            </a:endParaRPr>
          </a:p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GPU 서버(RTX A4000)에서 5종 순환 학습 (1만 스텝씩, 물체당 약 43분)</a:t>
            </a:r>
            <a:endParaRPr lang="en-US" sz="1350" dirty="0">
              <a:latin typeface="Pretendard"/>
              <a:ea typeface="Pretendard"/>
              <a:cs typeface="Pretendard"/>
            </a:endParaRPr>
          </a:p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1만 스텝: 물병 가운데 파지 성공, 가까운 위치 · 종이 · 펜 보완 필요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731520" y="7680960"/>
            <a:ext cx="822960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1005840" y="784555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통합 파이프라인</a:t>
            </a:r>
            <a:endParaRPr lang="en-US" sz="2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 22"/>
          <p:cNvSpPr txBox="1"/>
          <p:nvPr/>
        </p:nvSpPr>
        <p:spPr>
          <a:xfrm>
            <a:off x="1005840" y="8339328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run_auto.py: YOLO 판별 → 물체별 ACT → 수거함 → 그리퍼 열기 → home</a:t>
            </a:r>
            <a:endParaRPr lang="en-US" sz="1350" dirty="0">
              <a:latin typeface="Pretendard"/>
              <a:ea typeface="Pretendard"/>
              <a:cs typeface="Pretendard"/>
            </a:endParaRPr>
          </a:p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물체 5종 연동 완료 (지우개 → 필기구, 종이 → 쓰레기)</a:t>
            </a:r>
            <a:endParaRPr lang="en-US" sz="1350" dirty="0">
              <a:latin typeface="Pretendard"/>
              <a:ea typeface="Pretendard"/>
              <a:cs typeface="Pretendard"/>
            </a:endParaRPr>
          </a:p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시도별 성공 여부와 실패 이유를 run_log.csv에 기록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9326880" y="7680960"/>
            <a:ext cx="822960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9601200" y="784555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도구 · 작업 환경</a:t>
            </a:r>
            <a:endParaRPr lang="en-US" sz="2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Text 25"/>
          <p:cNvSpPr txBox="1"/>
          <p:nvPr/>
        </p:nvSpPr>
        <p:spPr>
          <a:xfrm>
            <a:off x="9601200" y="8339328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녹화 래퍼(record.py) · 점검 대시보드 · 서버 순환 학습 스크립트</a:t>
            </a:r>
            <a:endParaRPr lang="en-US" sz="1350" dirty="0">
              <a:latin typeface="Pretendard"/>
              <a:ea typeface="Pretendard"/>
              <a:cs typeface="Pretendard"/>
            </a:endParaRPr>
          </a:p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카메라 위치 · 초점 · 로봇 받침 고정, 촬영 · 실행 시 블라인드 닫기</a:t>
            </a:r>
            <a:endParaRPr lang="en-US" sz="1350" dirty="0">
              <a:latin typeface="Pretendard"/>
              <a:ea typeface="Pretendard"/>
              <a:cs typeface="Pretendard"/>
            </a:endParaRPr>
          </a:p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카메라 2대를 MJPG 압축으로 USB 허브 1개에 연결 (head=1, wrist=2)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280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현재 진행 상황 — 주차별</a:t>
            </a:r>
            <a:endParaRPr lang="en-US" sz="3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3350240" y="5669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5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02  진행 상황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6824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9555480"/>
            <a:ext cx="384048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9601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2026  FOUNDREAMER 인턴십  ·  중간 보고서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6642080" y="9601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4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731520" y="1417320"/>
            <a:ext cx="1682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주차별 실제 진행 · 산출물.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1505495"/>
              </p:ext>
            </p:extLst>
          </p:nvPr>
        </p:nvGraphicFramePr>
        <p:xfrm>
          <a:off x="739612" y="1874520"/>
          <a:ext cx="16824960" cy="725119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89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주차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단계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실제 진행 · 산출물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상태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1주차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로봇 구동 · 환경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로봇–PC 연결 · 텔레옵 확인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리포지토리 · 개발 환경 구축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완료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2주차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· 인식(YOLO)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작업 구역 · 수거함 설정, 7클래스 라벨링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YOLO 첫 학습(mAP50 0.994), 자세 저장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완료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3주차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시연 수집 · 실행 도구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ACT 시연 v1 수집 (105 에피소드)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녹화 도구 · run_auto.py 작성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완료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4주차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ACT 학습 · 자율 동작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GPU 서버 학습, 시연 5종 400 에피소드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쥠 감지 · YOLO v4, 첫 자율 동작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완료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5주차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정책 검증 · 성공률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환경 불일치 진단(녹화 동작 재생으로 로봇 정상 확인) → 5종 시연 재수집 250 · 순환 학습, 5종 연동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(비대면 병렬) 사용자 UI 개발 가이드 배포 — 웹 화면, 원격 조작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진행 중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6주차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실패 보강 · 재학습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v2 정책 검증 · 성공률 정식 측정, 시연 범위 보강 (로봇 가까운 위치 등)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(비대면 병렬) 사용자 UI 개발 (웹, 원격 조작)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예정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7~8주차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성능 개선 · 튜닝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물체별 성공률 개선 · 튜닝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(비대면 병렬) 사용자 UI 개발, 이후 하이퍼파라미터 조정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예정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9주차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· 평가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전체 연속 정리 통합 · 30회 지표 측정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사용자 UI ↔ 실제 로봇 통합 (11/27)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예정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10주차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마무리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시연 리허설 · 발표자료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예정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280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현장 사진</a:t>
            </a:r>
            <a:endParaRPr lang="en-US" sz="3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3350240" y="5669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5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05  사진 · 영상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6824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555480"/>
            <a:ext cx="384048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9601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2026  FOUNDREAMER 인턴십  ·  중간 보고서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6642080" y="9601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7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pic>
        <p:nvPicPr>
          <p:cNvPr id="8" name="Photo 1" descr="작업 환경 — SO-101 · head / wrist 카메라 · 수거함 구역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5090727" cy="2863534"/>
          </a:xfrm>
          <a:prstGeom prst="rect">
            <a:avLst/>
          </a:prstGeom>
        </p:spPr>
      </p:pic>
      <p:sp>
        <p:nvSpPr>
          <p:cNvPr id="9" name="Caption 1"/>
          <p:cNvSpPr txBox="1"/>
          <p:nvPr/>
        </p:nvSpPr>
        <p:spPr>
          <a:xfrm>
            <a:off x="731520" y="4582606"/>
            <a:ext cx="5090727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5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작업 환경 — SO-101 · head / wrist 카메라 · 수거함 구역</a:t>
            </a:r>
          </a:p>
        </p:txBody>
      </p:sp>
      <p:pic>
        <p:nvPicPr>
          <p:cNvPr id="10" name="Photo 2" descr="YOLO 탐지 결과 (bottle 0.95 · pen 0.89 · stapler 0.94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195254"/>
            <a:ext cx="5090727" cy="2863534"/>
          </a:xfrm>
          <a:prstGeom prst="rect">
            <a:avLst/>
          </a:prstGeom>
        </p:spPr>
      </p:pic>
      <p:sp>
        <p:nvSpPr>
          <p:cNvPr id="11" name="Caption 2"/>
          <p:cNvSpPr txBox="1"/>
          <p:nvPr/>
        </p:nvSpPr>
        <p:spPr>
          <a:xfrm>
            <a:off x="731520" y="8131940"/>
            <a:ext cx="5090727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5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YOLO 탐지 결과 (bottle 0.95 · pen 0.89 · stapler 0.94)</a:t>
            </a:r>
          </a:p>
        </p:txBody>
      </p:sp>
      <p:pic>
        <p:nvPicPr>
          <p:cNvPr id="12" name="Photo 3" descr="자율 동작 ① YOLO 판별 후 테이프로 접근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8007" y="1645920"/>
            <a:ext cx="3607238" cy="6412868"/>
          </a:xfrm>
          <a:prstGeom prst="rect">
            <a:avLst/>
          </a:prstGeom>
        </p:spPr>
      </p:pic>
      <p:sp>
        <p:nvSpPr>
          <p:cNvPr id="13" name="Caption 3"/>
          <p:cNvSpPr txBox="1"/>
          <p:nvPr/>
        </p:nvSpPr>
        <p:spPr>
          <a:xfrm>
            <a:off x="6188007" y="8131940"/>
            <a:ext cx="3607238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5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자율 동작 ① YOLO 판별 후 테이프로 접근</a:t>
            </a:r>
          </a:p>
        </p:txBody>
      </p:sp>
      <p:pic>
        <p:nvPicPr>
          <p:cNvPr id="14" name="Photo 4" descr="자율 동작 ② ACT 정책으로 파지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9566" y="1645920"/>
            <a:ext cx="3607238" cy="6412868"/>
          </a:xfrm>
          <a:prstGeom prst="rect">
            <a:avLst/>
          </a:prstGeom>
        </p:spPr>
      </p:pic>
      <p:sp>
        <p:nvSpPr>
          <p:cNvPr id="15" name="Caption 4"/>
          <p:cNvSpPr txBox="1"/>
          <p:nvPr/>
        </p:nvSpPr>
        <p:spPr>
          <a:xfrm>
            <a:off x="10069566" y="8131940"/>
            <a:ext cx="3607238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5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자율 동작 ② ACT 정책으로 파지</a:t>
            </a:r>
          </a:p>
        </p:txBody>
      </p:sp>
      <p:pic>
        <p:nvPicPr>
          <p:cNvPr id="16" name="Photo 5" descr="자율 동작 ③ 수거함 자세로 이송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51125" y="1645920"/>
            <a:ext cx="3607238" cy="6412868"/>
          </a:xfrm>
          <a:prstGeom prst="rect">
            <a:avLst/>
          </a:prstGeom>
        </p:spPr>
      </p:pic>
      <p:sp>
        <p:nvSpPr>
          <p:cNvPr id="17" name="Caption 5"/>
          <p:cNvSpPr txBox="1"/>
          <p:nvPr/>
        </p:nvSpPr>
        <p:spPr>
          <a:xfrm>
            <a:off x="13951125" y="8131940"/>
            <a:ext cx="3607238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5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자율 동작 ③ 수거함 자세로 이송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280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남은 할 것 (To-do)</a:t>
            </a:r>
            <a:endParaRPr lang="en-US" sz="3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3350240" y="5669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5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03  남은 할 것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6824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555480"/>
            <a:ext cx="384048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9601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2026  FOUNDREAMER 인턴십  ·  중간 보고서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6642080" y="9601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5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731520" y="1417320"/>
            <a:ext cx="1682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중간 이후 남은 작업. 우선순위: M(필수) · S(완성도) · C(여유 시)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74520"/>
          <a:ext cx="16824960" cy="7251186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No.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항목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세부 내용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예정 주차 · 담당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우선순위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40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1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v2 정책 검증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1만 · 2만 · 3만 스텝 체크포인트를 순서대로 로봇 시험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가장 나은 스텝 선택 (빗나감 방향 · 책상 충돌 기록)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5~6주차 · 팀장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M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40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2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시연 범위 보강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로봇 가까운 위치(받침 앞 약 10cm 안)에 시연이 없음 → 물체별 15개 추가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펜은 오른쪽 끝도 보강 → 재학습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6주차 · 팀장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M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40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3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사용자 UI 개발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사용자용 웹 화면: 실시간 화면, 시작 · 일시정지 · 중지 · 비상정지, 설정, 휴대폰 원격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녹화 영상으로 움직이는 가짜 로봇으로 개발 (가이드 · 시작 코드: doc/UI_개발_가이드.md)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5~8주차 개발 · 9주차(11/27) 통합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팀원 2명 (비대면, 협업)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M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640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4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성공률 정식 측정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v2 학습 완료 후 조건 고정(블라인드 닫음), run_log.csv 새로 시작, 물체별 30회 · 실패 이유 기록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6주차 · 팀장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M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640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5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실패 보강 · 통합 · 시연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실패 유형별 시연 보강 · 재학습 → 전체 연속 정리 통합 측정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시연 영상 촬영, 발표자료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6~10주차 · 전원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M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640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6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책상 충돌 방지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1만 스텝에서 종이 · 펜을 집을 때 그리퍼가 책상을 긁음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2~3만 스텝에서 확인 후, 계속되면 모터 부하 감지로 정지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6주차 · 팀장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S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40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하이퍼파라미터 조정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YOLO(증강 · imgsz) · ACT(스텝 · 동작 묶음 · 학습률) 조정 실험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 정리 → 최적 설정을 로봇 검증에 반영 (YOLO v4 재학습 후 소폭 떨어진 펜 · 테이프 탐지율 93% · 97% 보강 포함)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UI 이후 · 팀원 (비대면)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S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280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이슈 사항 (Issues)</a:t>
            </a:r>
            <a:endParaRPr lang="en-US" sz="3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3350240" y="5669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5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04  이슈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6824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555480"/>
            <a:ext cx="384048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9601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2026  FOUNDREAMER 인턴십  ·  중간 보고서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6642080" y="9601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6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731520" y="1417320"/>
            <a:ext cx="1682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진행 중 발생한 문제와 대응. 상태: 결정 필요 / 대응 중 / 해결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74520"/>
          <a:ext cx="16824960" cy="7251186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No.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이슈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원인 · 영향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대응 방안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상태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40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1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모방학습 이후 보강 방식 결정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기획서의 강화학습 보정: 시뮬레이션(URDF · IK) 미구축, 남은 6회로 실물 학습 어려움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YOLO + IK 완전 대체: 카메라–로봇 캘리브레이션부터 새로 필요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YOLO 박스 위치 기반 보정 우선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반복 실패 물체만 YOLO + IK, 강화학습은 확장 목표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v2 정책 성공률 측정 결과로 확정 (6주차)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결정 필요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40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2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환경 변경으로 정책 전반 실패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카메라 구도(약 7px) · 초점 · 영상 형식이 바뀐 뒤 5종 모두 파지 실패 (일정하게 깊게 잡음)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녹화 동작 재생은 정상 → 로봇이 아니라 시연 화면과 지금 화면이 다름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카메라 · 초점 · 로봇 받침 · 조명 고정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→ 5종 250 에피소드 재수집 · 순환 학습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기존 데이터는 학습 제외 (보관)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대응 중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40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3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비대면 병렬 작업의 한계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로봇이 대면 근무지에만 있어 비대면 팀원은 실물 검증 불가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과제 형태로는 결과 확인이 출근일에 몰려 병목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로봇 없이 가능한 역할로 확정: 사용자 UI 개발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(가짜 로봇으로 개발) · 9주차 실제 로봇 통합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UI 이후 하이퍼파라미터 조정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해결 (5주차~)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40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4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노트북 CPU 학습 불가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1스텝 약 10초 → 5만 스텝 140시간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GPU 서버(RTX A4000) 구축 → 약 3.6시간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코랩은 백업 · 이어 학습용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해결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640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5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정책 속도 · 동작 끊김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fps 20 이상이면 팔이 못 따라가 파지 실패, 덜 학습된 ACT 예측이 들쭉날쭉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정책 15fps + 60Hz 보간 전송 + 평활(0.3)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해결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640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6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YOLO 추론 조건 불일치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학습값 imgsz 960으로 추론 시 물병 0/19, 뚜껑 닫은 물병 미탐지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imgsz 640 · conf 0.3 고정, v4 재학습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(뚜껑 물병 13/13, 대신 펜 · 테이프 소폭 하락)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해결 (보강 중)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640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하드웨어 · 환경 이슈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카메라 번호가 실행마다 바뀜 · 카메라 2대를 허브 하나에 꽂으면 대역폭 부족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(wrist 검은 화면), 녹화 종료 시 그리퍼 과부하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녹화마다 화면 확인 · 카메라 위치 · 초점 테이프 고정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MJPG 압축으로 허브 1개에 2대 연결, 녹화 후 텔레옵 유지</a:t>
                      </a:r>
                      <a:endParaRPr lang="en-US" sz="135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i="0" dirty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해결 (상시 주의)</a:t>
                      </a:r>
                      <a:endParaRPr lang="en-US" sz="150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731520" y="457200"/>
            <a:ext cx="1280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시연 영상</a:t>
            </a:r>
            <a:endParaRPr lang="en-US" sz="3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3350240" y="5669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5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05  사진 · 영상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6824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555480"/>
            <a:ext cx="384048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9601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2026  FOUNDREAMER 인턴십  ·  중간 보고서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6642080" y="9601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8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pic>
        <p:nvPicPr>
          <p:cNvPr id="8" name="Demo Video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1520" y="1645920"/>
            <a:ext cx="12070080" cy="678942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13167360" y="1645920"/>
            <a:ext cx="4389120" cy="67894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13441680" y="1874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 err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자율 정리 — 구겨진 종이</a:t>
            </a:r>
            <a:endParaRPr lang="en-US" sz="2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13441680" y="2423160"/>
            <a:ext cx="3840480" cy="578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64"/>
              </a:spcAft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① head 카메라 YOLO가 종이를 판별</a:t>
            </a:r>
            <a:endParaRPr lang="en-US" sz="1350" dirty="0">
              <a:latin typeface="Pretendard"/>
              <a:ea typeface="Pretendard"/>
              <a:cs typeface="Pretendard"/>
            </a:endParaRPr>
          </a:p>
          <a:p>
            <a:pPr marL="0" indent="0">
              <a:spcAft>
                <a:spcPts val="864"/>
              </a:spcAft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② 종이용 ACT 정책이 팔을 움직여 집고 들어 올림</a:t>
            </a:r>
            <a:endParaRPr lang="en-US" sz="1350" dirty="0">
              <a:latin typeface="Pretendard"/>
              <a:ea typeface="Pretendard"/>
              <a:cs typeface="Pretendard"/>
            </a:endParaRPr>
          </a:p>
          <a:p>
            <a:pPr marL="0" indent="0">
              <a:spcAft>
                <a:spcPts val="864"/>
              </a:spcAft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③ 쥠 감지 → 저장한 자세로 쓰레기 수거함 위까지 이동</a:t>
            </a:r>
            <a:endParaRPr lang="en-US" sz="1350" dirty="0">
              <a:latin typeface="Pretendard"/>
              <a:ea typeface="Pretendard"/>
              <a:cs typeface="Pretendard"/>
            </a:endParaRPr>
          </a:p>
          <a:p>
            <a:pPr marL="0" indent="0">
              <a:spcAft>
                <a:spcPts val="864"/>
              </a:spcAft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④ 그리퍼를 열어 놓고 home으로 복귀</a:t>
            </a:r>
            <a:endParaRPr lang="en-US" sz="1350" dirty="0">
              <a:latin typeface="Pretendard"/>
              <a:ea typeface="Pretendard"/>
              <a:cs typeface="Pretendard"/>
            </a:endParaRPr>
          </a:p>
          <a:p>
            <a:pPr marL="0" indent="0">
              <a:spcAft>
                <a:spcPts val="864"/>
              </a:spcAft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/>
            </a:r>
            <a:endParaRPr lang="en-US" sz="1350" dirty="0">
              <a:latin typeface="Pretendard"/>
              <a:ea typeface="Pretendard"/>
              <a:cs typeface="Pretendard"/>
            </a:endParaRPr>
          </a:p>
          <a:p>
            <a:pPr marL="0" indent="0">
              <a:spcAft>
                <a:spcPts val="864"/>
              </a:spcAft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사람 조작 없이 자율 동작 · 23초</a:t>
            </a:r>
            <a:endParaRPr lang="en-US" sz="1350" dirty="0">
              <a:latin typeface="Pretendard"/>
              <a:ea typeface="Pretendard"/>
              <a:cs typeface="Pretendard"/>
            </a:endParaRPr>
          </a:p>
          <a:p>
            <a:pPr marL="0" indent="0">
              <a:spcAft>
                <a:spcPts val="864"/>
              </a:spcAft>
              <a:buNone/>
            </a:pPr>
            <a:r>
              <a:rPr lang="en-US" sz="1350" i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5회차(10/30) 촬영</a:t>
            </a:r>
            <a:endParaRPr lang="en-US" sz="1350" dirty="0"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 panose="020F0302020204030204"/>
        <a:ea typeface="Pretendard"/>
        <a:cs typeface="Pretendard"/>
      </a:majorFont>
      <a:minorFont>
        <a:latin typeface="Pretendard" panose="020F0502020204030204"/>
        <a:ea typeface="Pretendard"/>
        <a:cs typeface="Pretendard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1643</Words>
  <Application>Microsoft Office PowerPoint</Application>
  <PresentationFormat>사용자 지정</PresentationFormat>
  <Paragraphs>249</Paragraphs>
  <Slides>7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Arial</vt:lpstr>
      <vt:lpstr>Pretendard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기반 데스크 오브젝트 인식·분류 정리 로봇 — 프로젝트 기획서</dc:title>
  <dc:subject>2026 FOUNDREAMER 인턴십 · Physical AI 프로젝트 기획서</dc:subject>
  <dc:creator>PptxGenJS</dc:creator>
  <cp:lastModifiedBy>김태익</cp:lastModifiedBy>
  <cp:revision>10</cp:revision>
  <dcterms:created xsi:type="dcterms:W3CDTF">2026-09-15T18:37:24Z</dcterms:created>
  <dcterms:modified xsi:type="dcterms:W3CDTF">2026-10-30T00:01:10Z</dcterms:modified>
</cp:coreProperties>
</file>